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Q1 Budget</c:v>
                </c:pt>
              </c:strCache>
            </c:strRef>
          </c:tx>
          <c:spPr>
            <a:solidFill>
              <a:srgbClr val="1C45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RECs</c:v>
                  </c:pt>
                  <c:pt idx="1">
                    <c:v>Bloom Mktg</c:v>
                  </c:pt>
                  <c:pt idx="2">
                    <c:v>Events</c:v>
                  </c:pt>
                  <c:pt idx="3">
                    <c:v>IP</c:v>
                  </c:pt>
                  <c:pt idx="4">
                    <c:v>Interest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1215163</c:v>
                </c:pt>
                <c:pt idx="1">
                  <c:v>826235</c:v>
                </c:pt>
                <c:pt idx="2">
                  <c:v>174000</c:v>
                </c:pt>
                <c:pt idx="3">
                  <c:v>85232</c:v>
                </c:pt>
                <c:pt idx="4">
                  <c:v>72500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YTD Actual</c:v>
                </c:pt>
              </c:strCache>
            </c:strRef>
          </c:tx>
          <c:spPr>
            <a:solidFill>
              <a:srgbClr val="50B4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RECs</c:v>
                  </c:pt>
                  <c:pt idx="1">
                    <c:v>Bloom Mktg</c:v>
                  </c:pt>
                  <c:pt idx="2">
                    <c:v>Events</c:v>
                  </c:pt>
                  <c:pt idx="3">
                    <c:v>IP</c:v>
                  </c:pt>
                  <c:pt idx="4">
                    <c:v>Interest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2518742</c:v>
                </c:pt>
                <c:pt idx="1">
                  <c:v>261185</c:v>
                </c:pt>
                <c:pt idx="2">
                  <c:v>43299</c:v>
                </c:pt>
                <c:pt idx="3">
                  <c:v>61500</c:v>
                </c:pt>
                <c:pt idx="4">
                  <c:v>72048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00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FY26 Quarterly Forecast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58D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 (YTD)</c:v>
                  </c:pt>
                  <c:pt idx="1">
                    <c:v>Q2 Forecast</c:v>
                  </c:pt>
                  <c:pt idx="2">
                    <c:v>Q3 Forecast</c:v>
                  </c:pt>
                  <c:pt idx="3">
                    <c:v>Q4 Forecast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3020957</c:v>
                </c:pt>
                <c:pt idx="1">
                  <c:v>2400000</c:v>
                </c:pt>
                <c:pt idx="2">
                  <c:v>2500000</c:v>
                </c:pt>
                <c:pt idx="3">
                  <c:v>2500000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Income</c:v>
                </c:pt>
              </c:strCache>
            </c:strRef>
          </c:tx>
          <c:spPr>
            <a:solidFill>
              <a:srgbClr val="50B4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 (YTD)</c:v>
                  </c:pt>
                  <c:pt idx="1">
                    <c:v>Q2 Forecast</c:v>
                  </c:pt>
                  <c:pt idx="2">
                    <c:v>Q3 Forecast</c:v>
                  </c:pt>
                  <c:pt idx="3">
                    <c:v>Q4 Forecast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1857668</c:v>
                </c:pt>
                <c:pt idx="1">
                  <c:v>1100000</c:v>
                </c:pt>
                <c:pt idx="2">
                  <c:v>1200000</c:v>
                </c:pt>
                <c:pt idx="3">
                  <c:v>1200000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0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FY26 YTD</c:v>
                </c:pt>
              </c:strCache>
            </c:strRef>
          </c:tx>
          <c:spPr>
            <a:solidFill>
              <a:srgbClr val="50B4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Non-Ag</c:v>
                  </c:pt>
                  <c:pt idx="1">
                    <c:v>Ag Direct</c:v>
                  </c:pt>
                  <c:pt idx="2">
                    <c:v>Landscapers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45000</c:v>
                </c:pt>
                <c:pt idx="1">
                  <c:v>35000</c:v>
                </c:pt>
                <c:pt idx="2">
                  <c:v>10769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1C45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Non-Ag</c:v>
                  </c:pt>
                  <c:pt idx="1">
                    <c:v>Ag Direct</c:v>
                  </c:pt>
                  <c:pt idx="2">
                    <c:v>Landscapers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75000</c:v>
                </c:pt>
                <c:pt idx="1">
                  <c:v>50000</c:v>
                </c:pt>
                <c:pt idx="2">
                  <c:v>12500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 Price ($/MWh)</c:v>
                </c:pt>
              </c:strCache>
            </c:strRef>
          </c:tx>
          <c:spPr>
            <a:solidFill>
              <a:srgbClr val="058DC7"/>
            </a:solidFill>
            <a:ln w="25400" cap="flat">
              <a:solidFill>
                <a:srgbClr val="058DC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58DC7"/>
              </a:solidFill>
              <a:ln w="9525" cap="flat">
                <a:solidFill>
                  <a:srgbClr val="058DC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47</c:v>
                </c:pt>
                <c:pt idx="2">
                  <c:v>48</c:v>
                </c:pt>
                <c:pt idx="3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5486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4587"/>
                </a:solidFill>
              </a:rPr>
              <a:t>Blue Drop Board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1C4587"/>
                </a:solidFill>
              </a:rPr>
              <a:t>Update</a:t>
            </a:r>
            <a:endParaRPr lang="en-US" sz="4000" dirty="0"/>
          </a:p>
          <a:p>
            <a:pPr indent="0" marL="0">
              <a:buNone/>
            </a:pPr>
            <a:endParaRPr lang="en-US" sz="4000" dirty="0"/>
          </a:p>
          <a:p>
            <a:pPr indent="0" marL="0">
              <a:buNone/>
            </a:pPr>
            <a:r>
              <a:rPr lang="en-US" sz="2400" dirty="0">
                <a:solidFill>
                  <a:srgbClr val="1C4587"/>
                </a:solidFill>
              </a:rPr>
              <a:t>FY26 - Q2 Financial Review</a:t>
            </a:r>
            <a:endParaRPr lang="en-US" sz="4000" dirty="0"/>
          </a:p>
          <a:p>
            <a:pPr indent="0" marL="0">
              <a:buNone/>
            </a:pPr>
            <a:endParaRPr lang="en-US" sz="4000" dirty="0"/>
          </a:p>
          <a:p>
            <a:pPr indent="0" marL="0">
              <a:buNone/>
            </a:pPr>
            <a:r>
              <a:rPr lang="en-US" sz="1800" dirty="0">
                <a:solidFill>
                  <a:srgbClr val="1C4587"/>
                </a:solidFill>
              </a:rPr>
              <a:t>YTD Performance: October 1, 2025 - January 19, 2026</a:t>
            </a:r>
            <a:endParaRPr lang="en-US" sz="4000" dirty="0"/>
          </a:p>
        </p:txBody>
      </p:sp>
      <p:pic>
        <p:nvPicPr>
          <p:cNvPr id="3" name="Image 0" descr="/Users/loveg/Documents/SDO - Workspace/pptx_workspace/bluedrop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371600"/>
            <a:ext cx="18288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28650"/>
          </a:xfrm>
          <a:prstGeom prst="rect">
            <a:avLst/>
          </a:prstGeom>
          <a:solidFill>
            <a:srgbClr val="1C458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52400"/>
            <a:ext cx="867928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- YTD vs Budget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17450" y="819150"/>
            <a:ext cx="2836366" cy="961876"/>
          </a:xfrm>
          <a:prstGeom prst="roundRect">
            <a:avLst>
              <a:gd name="adj" fmla="val 528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41263" y="819150"/>
            <a:ext cx="0" cy="961876"/>
          </a:xfrm>
          <a:prstGeom prst="line">
            <a:avLst/>
          </a:prstGeom>
          <a:noFill/>
          <a:ln w="47625">
            <a:solidFill>
              <a:srgbClr val="50B4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5575" y="971550"/>
            <a:ext cx="24558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Revenue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55575" y="1165175"/>
            <a:ext cx="245589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$3.02M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55575" y="1485751"/>
            <a:ext cx="24558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124% of Q1 Budget ($2.43M)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53817" y="819150"/>
            <a:ext cx="2836366" cy="961876"/>
          </a:xfrm>
          <a:prstGeom prst="roundRect">
            <a:avLst>
              <a:gd name="adj" fmla="val 528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177629" y="819150"/>
            <a:ext cx="0" cy="961876"/>
          </a:xfrm>
          <a:prstGeom prst="line">
            <a:avLst/>
          </a:prstGeom>
          <a:noFill/>
          <a:ln w="47625">
            <a:solidFill>
              <a:srgbClr val="50B4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91942" y="971550"/>
            <a:ext cx="24558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Net Income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91942" y="1165175"/>
            <a:ext cx="245589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$1.86M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91942" y="1485751"/>
            <a:ext cx="24558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179% of Q1 Budget ($1.04M)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90183" y="819150"/>
            <a:ext cx="2836366" cy="961876"/>
          </a:xfrm>
          <a:prstGeom prst="roundRect">
            <a:avLst>
              <a:gd name="adj" fmla="val 528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013996" y="819150"/>
            <a:ext cx="0" cy="961876"/>
          </a:xfrm>
          <a:prstGeom prst="line">
            <a:avLst/>
          </a:prstGeom>
          <a:noFill/>
          <a:ln w="47625">
            <a:solidFill>
              <a:srgbClr val="ED5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8308" y="971550"/>
            <a:ext cx="24558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Expenses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28308" y="1165175"/>
            <a:ext cx="245589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$1.16M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28308" y="1485751"/>
            <a:ext cx="24558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 of Q1 Budget (Favorable)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17450" y="1933426"/>
            <a:ext cx="8509099" cy="3019574"/>
          </a:xfrm>
          <a:prstGeom prst="roundRect">
            <a:avLst>
              <a:gd name="adj" fmla="val 1682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07950" y="2085826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Highlights (Oct 1, 2025 - Jan 19, 2026)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7950" y="2358777"/>
            <a:ext cx="8290661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revenue driving exceptional performance at $2.52M YTD (207% of Q1 budget), significantly exceeding projections.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7950" y="2599879"/>
            <a:ext cx="8290661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Marketing segment losing $586K YTD - hauling COGS ($511K) and land app fees driving losses.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7950" y="2840980"/>
            <a:ext cx="8290661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 at only 24% of Q1 target (3-4 events booked vs 13 budgeted) - requires pipeline review.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7950" y="3082082"/>
            <a:ext cx="8290661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position strong at $14.3M with 5.5% yield generating $72K interest income (99% of Q1 budget).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69702"/>
          </a:xfrm>
          <a:prstGeom prst="rect">
            <a:avLst/>
          </a:prstGeom>
          <a:solidFill>
            <a:srgbClr val="1C458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01501"/>
            <a:ext cx="867928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Revenue vs Q1 Budget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17450" y="571202"/>
            <a:ext cx="4145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Comparison (Oct 1, 2025 - Jan 19, 2026)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17450" y="755303"/>
            <a:ext cx="4063901" cy="3089970"/>
          </a:xfrm>
          <a:prstGeom prst="roundRect">
            <a:avLst>
              <a:gd name="adj" fmla="val 1644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7450" y="755303"/>
            <a:ext cx="4063901" cy="358676"/>
          </a:xfrm>
          <a:prstGeom prst="roundRect">
            <a:avLst>
              <a:gd name="adj" fmla="val 14163"/>
            </a:avLst>
          </a:prstGeom>
          <a:solidFill>
            <a:srgbClr val="1C458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17450" y="1109216"/>
            <a:ext cx="4063901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650" y="882253"/>
            <a:ext cx="15959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42636" y="882253"/>
            <a:ext cx="7978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Budget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724873" y="882253"/>
            <a:ext cx="7980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Actual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507266" y="882253"/>
            <a:ext cx="7978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Q1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68201" y="1467594"/>
            <a:ext cx="39624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8951" y="1253430"/>
            <a:ext cx="15752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(Renewable Energy)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947898" y="1253430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$1,215,163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720016" y="1253430"/>
            <a:ext cx="7877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$2,518,742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492288" y="1253430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207%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68201" y="1800671"/>
            <a:ext cx="39624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8951" y="1586508"/>
            <a:ext cx="15752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Marketing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947898" y="1586508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$826,235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720016" y="1586508"/>
            <a:ext cx="7877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$261,185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492288" y="1586508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32%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368201" y="2133749"/>
            <a:ext cx="39624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8951" y="1919585"/>
            <a:ext cx="15752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Sales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947898" y="1919585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$137,500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720016" y="1919585"/>
            <a:ext cx="7877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$90,769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492288" y="1919585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66%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8201" y="2466826"/>
            <a:ext cx="39624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8951" y="2252663"/>
            <a:ext cx="15752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947898" y="2252663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$174,000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720016" y="2252663"/>
            <a:ext cx="7877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$43,299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3492288" y="2252663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68201" y="2799904"/>
            <a:ext cx="39624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8951" y="2585740"/>
            <a:ext cx="15752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&amp; Products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947898" y="2585740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$85,232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720016" y="2585740"/>
            <a:ext cx="7877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$61,500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492288" y="2585740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368201" y="3132981"/>
            <a:ext cx="39624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8951" y="2918817"/>
            <a:ext cx="15752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Towers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947898" y="2918817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$44,993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720016" y="2918817"/>
            <a:ext cx="7877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$43,182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3492288" y="2918817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368201" y="3466058"/>
            <a:ext cx="39624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8951" y="3251895"/>
            <a:ext cx="15752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 Income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947898" y="3251895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$72,500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2720016" y="3251895"/>
            <a:ext cx="7877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$72,048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3492288" y="3251895"/>
            <a:ext cx="787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17450" y="3496121"/>
            <a:ext cx="4063901" cy="349151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93650" y="3623072"/>
            <a:ext cx="15959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REVENUE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1942636" y="3623072"/>
            <a:ext cx="7978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$2,431,310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2724873" y="3623072"/>
            <a:ext cx="7980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$3,020,957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3507266" y="3623072"/>
            <a:ext cx="7978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124%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508302" y="571202"/>
            <a:ext cx="440461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Status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508302" y="755303"/>
            <a:ext cx="4318248" cy="1125141"/>
          </a:xfrm>
          <a:prstGeom prst="roundRect">
            <a:avLst>
              <a:gd name="adj" fmla="val 4515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4584502" y="1023193"/>
            <a:ext cx="4165848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84502" y="877342"/>
            <a:ext cx="23681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8174682" y="856804"/>
            <a:ext cx="575667" cy="136327"/>
          </a:xfrm>
          <a:prstGeom prst="roundRect">
            <a:avLst>
              <a:gd name="adj" fmla="val 55895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238083" y="882104"/>
            <a:ext cx="4578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EXCEEDING</a:t>
            </a:r>
            <a:endParaRPr lang="en-US" sz="600" dirty="0"/>
          </a:p>
        </p:txBody>
      </p:sp>
      <p:sp>
        <p:nvSpPr>
          <p:cNvPr id="58" name="Shape 56"/>
          <p:cNvSpPr/>
          <p:nvPr/>
        </p:nvSpPr>
        <p:spPr>
          <a:xfrm>
            <a:off x="4584502" y="1219646"/>
            <a:ext cx="4165848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84502" y="1073795"/>
            <a:ext cx="6802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Marketing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8267998" y="1053257"/>
            <a:ext cx="482352" cy="136327"/>
          </a:xfrm>
          <a:prstGeom prst="roundRect">
            <a:avLst>
              <a:gd name="adj" fmla="val 55895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331398" y="1078557"/>
            <a:ext cx="362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600" dirty="0"/>
          </a:p>
        </p:txBody>
      </p:sp>
      <p:sp>
        <p:nvSpPr>
          <p:cNvPr id="62" name="Shape 60"/>
          <p:cNvSpPr/>
          <p:nvPr/>
        </p:nvSpPr>
        <p:spPr>
          <a:xfrm>
            <a:off x="4584502" y="1416100"/>
            <a:ext cx="4165848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84502" y="1270248"/>
            <a:ext cx="27719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8267998" y="1249710"/>
            <a:ext cx="482352" cy="136327"/>
          </a:xfrm>
          <a:prstGeom prst="roundRect">
            <a:avLst>
              <a:gd name="adj" fmla="val 55895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331398" y="1275011"/>
            <a:ext cx="362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600" dirty="0"/>
          </a:p>
        </p:txBody>
      </p:sp>
      <p:sp>
        <p:nvSpPr>
          <p:cNvPr id="66" name="Shape 64"/>
          <p:cNvSpPr/>
          <p:nvPr/>
        </p:nvSpPr>
        <p:spPr>
          <a:xfrm>
            <a:off x="4584502" y="1612553"/>
            <a:ext cx="4165848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84502" y="1466701"/>
            <a:ext cx="62482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 Income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8221414" y="1446163"/>
            <a:ext cx="528935" cy="136327"/>
          </a:xfrm>
          <a:prstGeom prst="roundRect">
            <a:avLst>
              <a:gd name="adj" fmla="val 55895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284815" y="1471464"/>
            <a:ext cx="4101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4584502" y="1663154"/>
            <a:ext cx="46695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Towers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8221414" y="1642616"/>
            <a:ext cx="528935" cy="136327"/>
          </a:xfrm>
          <a:prstGeom prst="roundRect">
            <a:avLst>
              <a:gd name="adj" fmla="val 55895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284815" y="1667917"/>
            <a:ext cx="4101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4508302" y="1981944"/>
            <a:ext cx="440461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vs Budget Chart</a:t>
            </a:r>
            <a:endParaRPr lang="en-US" sz="900" dirty="0"/>
          </a:p>
        </p:txBody>
      </p:sp>
      <p:graphicFrame>
        <p:nvGraphicFramePr>
          <p:cNvPr id="74" name="Chart 0" descr=""/>
          <p:cNvGraphicFramePr/>
          <p:nvPr/>
        </p:nvGraphicFramePr>
        <p:xfrm>
          <a:off x="4508302" y="2166045"/>
          <a:ext cx="4318248" cy="1905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49176"/>
          </a:xfrm>
          <a:prstGeom prst="rect">
            <a:avLst/>
          </a:prstGeom>
          <a:solidFill>
            <a:srgbClr val="1C458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26950"/>
            <a:ext cx="867928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Segment Profitability Analysis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17450" y="676126"/>
            <a:ext cx="42619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Profitable Segments (YTD)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17450" y="895201"/>
            <a:ext cx="4178350" cy="415826"/>
          </a:xfrm>
          <a:prstGeom prst="roundRect">
            <a:avLst>
              <a:gd name="adj" fmla="val 1221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36500" y="895201"/>
            <a:ext cx="0" cy="415826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051" y="976164"/>
            <a:ext cx="14577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(Renewable Energy)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84687" y="971401"/>
            <a:ext cx="7238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+$2,392,648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051" y="1139577"/>
            <a:ext cx="4015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Revenue: $2.52M | COGS: $126K | 207% of Q1 Budget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317450" y="1374428"/>
            <a:ext cx="4178350" cy="415826"/>
          </a:xfrm>
          <a:prstGeom prst="roundRect">
            <a:avLst>
              <a:gd name="adj" fmla="val 1221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36500" y="1374428"/>
            <a:ext cx="0" cy="415826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051" y="1455390"/>
            <a:ext cx="8617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 Income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861048" y="1450628"/>
            <a:ext cx="5439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+$72,048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051" y="1618804"/>
            <a:ext cx="4015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5.5% yield on $14.3M cash | 99% of Q1 Budget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17450" y="1853654"/>
            <a:ext cx="4178350" cy="415826"/>
          </a:xfrm>
          <a:prstGeom prst="roundRect">
            <a:avLst>
              <a:gd name="adj" fmla="val 1221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336500" y="1853654"/>
            <a:ext cx="0" cy="415826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051" y="1934617"/>
            <a:ext cx="8012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&amp; Licensing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61048" y="1929854"/>
            <a:ext cx="5439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+$51,500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051" y="2098030"/>
            <a:ext cx="4015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Revenue: $61.5K | Expenses: $10K | 72% of Q1 Budget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17450" y="2332881"/>
            <a:ext cx="4178350" cy="415826"/>
          </a:xfrm>
          <a:prstGeom prst="roundRect">
            <a:avLst>
              <a:gd name="adj" fmla="val 1221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336500" y="2332881"/>
            <a:ext cx="0" cy="415826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051" y="2413843"/>
            <a:ext cx="6457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Towers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61048" y="2409081"/>
            <a:ext cx="5439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+$43,182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051" y="2577257"/>
            <a:ext cx="4015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Passive income | 100% margin | 96% of Q1 Budget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17450" y="2812107"/>
            <a:ext cx="4178350" cy="415826"/>
          </a:xfrm>
          <a:prstGeom prst="roundRect">
            <a:avLst>
              <a:gd name="adj" fmla="val 1221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336500" y="2812107"/>
            <a:ext cx="0" cy="415826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051" y="2893070"/>
            <a:ext cx="6998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Sales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861048" y="2888307"/>
            <a:ext cx="5439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+$51,233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051" y="3056483"/>
            <a:ext cx="4015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Revenue: $90.8K | COGS: $39.5K | 66% of Q1 Budget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648200" y="676126"/>
            <a:ext cx="42619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Loss-Making Segments (YTD)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8200" y="895201"/>
            <a:ext cx="4178350" cy="415826"/>
          </a:xfrm>
          <a:prstGeom prst="roundRect">
            <a:avLst>
              <a:gd name="adj" fmla="val 1221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4667250" y="895201"/>
            <a:ext cx="0" cy="415826"/>
          </a:xfrm>
          <a:prstGeom prst="line">
            <a:avLst/>
          </a:prstGeom>
          <a:noFill/>
          <a:ln w="38100">
            <a:solidFill>
              <a:srgbClr val="ED56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87801" y="976164"/>
            <a:ext cx="94574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Marketing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153102" y="971401"/>
            <a:ext cx="583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-$586,166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87801" y="1139577"/>
            <a:ext cx="4015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Revenue: $261K | Expenses: $847K | Hauling COGS: $511K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648200" y="1374428"/>
            <a:ext cx="4178350" cy="415826"/>
          </a:xfrm>
          <a:prstGeom prst="roundRect">
            <a:avLst>
              <a:gd name="adj" fmla="val 1221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4667250" y="1374428"/>
            <a:ext cx="0" cy="415826"/>
          </a:xfrm>
          <a:prstGeom prst="line">
            <a:avLst/>
          </a:prstGeom>
          <a:noFill/>
          <a:ln w="38100">
            <a:solidFill>
              <a:srgbClr val="ED561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87801" y="1455390"/>
            <a:ext cx="38239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223796" y="1450628"/>
            <a:ext cx="5112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-$50,824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787801" y="1618804"/>
            <a:ext cx="40159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Revenue: $43K | Expenses: $94K | Only 3-4 of 13 events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648200" y="1866454"/>
            <a:ext cx="4178350" cy="844302"/>
          </a:xfrm>
          <a:prstGeom prst="roundRect">
            <a:avLst>
              <a:gd name="adj" fmla="val 6017"/>
            </a:avLst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4667250" y="1866454"/>
            <a:ext cx="0" cy="844302"/>
          </a:xfrm>
          <a:prstGeom prst="line">
            <a:avLst/>
          </a:prstGeom>
          <a:noFill/>
          <a:ln w="38100">
            <a:solidFill>
              <a:srgbClr val="ED561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87801" y="1967954"/>
            <a:ext cx="40159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Variance Drivers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787801" y="2152055"/>
            <a:ext cx="401599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Bloom Mktg: Hauling COGS ($511K) + Land App ($91K) exceeding revenue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787801" y="2304455"/>
            <a:ext cx="401599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Events: 25% of target bookings - pipeline review required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787801" y="2456855"/>
            <a:ext cx="401599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RECs outperformance (+$1.3M) offsetting segment losses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648200" y="2786955"/>
            <a:ext cx="4178350" cy="676126"/>
          </a:xfrm>
          <a:prstGeom prst="roundRect">
            <a:avLst>
              <a:gd name="adj" fmla="val 7513"/>
            </a:avLst>
          </a:prstGeom>
          <a:solidFill>
            <a:srgbClr val="1C458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4775150" y="2913906"/>
            <a:ext cx="400293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Net Income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775150" y="3098006"/>
            <a:ext cx="400293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$1,857,668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28650"/>
          </a:xfrm>
          <a:prstGeom prst="rect">
            <a:avLst/>
          </a:prstGeom>
          <a:solidFill>
            <a:srgbClr val="ED561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52400"/>
            <a:ext cx="867928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Issues Requiring Board Attention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17450" y="781050"/>
            <a:ext cx="4159300" cy="780604"/>
          </a:xfrm>
          <a:prstGeom prst="roundRect">
            <a:avLst>
              <a:gd name="adj" fmla="val 6508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44401" y="914251"/>
            <a:ext cx="12320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AR Aging Crisis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723531" y="908000"/>
            <a:ext cx="626269" cy="164902"/>
          </a:xfrm>
          <a:prstGeom prst="roundRect">
            <a:avLst>
              <a:gd name="adj" fmla="val 61613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799731" y="933301"/>
            <a:ext cx="4833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44401" y="1136303"/>
            <a:ext cx="3983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 of Bloom Sales AR ($90K) is over 90 days old.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44401" y="1320403"/>
            <a:ext cx="398350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$62K approved for collections. Edward Daniels ($22K) in civil suit.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17450" y="1663154"/>
            <a:ext cx="4159300" cy="780604"/>
          </a:xfrm>
          <a:prstGeom prst="roundRect">
            <a:avLst>
              <a:gd name="adj" fmla="val 6508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4401" y="1796355"/>
            <a:ext cx="1844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Bloom Marketing Losses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43499" y="1790105"/>
            <a:ext cx="406301" cy="164902"/>
          </a:xfrm>
          <a:prstGeom prst="roundRect">
            <a:avLst>
              <a:gd name="adj" fmla="val 61613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019699" y="1815405"/>
            <a:ext cx="25897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44401" y="2018407"/>
            <a:ext cx="3983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losing $586K YTD despite $261K revenue.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4401" y="2202507"/>
            <a:ext cx="398350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Hauling COGS ($511K) and Land App fees ($91K) driving losses.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17450" y="2545259"/>
            <a:ext cx="4159300" cy="780604"/>
          </a:xfrm>
          <a:prstGeom prst="roundRect">
            <a:avLst>
              <a:gd name="adj" fmla="val 6508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44401" y="2678460"/>
            <a:ext cx="19393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Events Underperformance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85592" y="2672209"/>
            <a:ext cx="564207" cy="164902"/>
          </a:xfrm>
          <a:prstGeom prst="roundRect">
            <a:avLst>
              <a:gd name="adj" fmla="val 61613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861792" y="2697510"/>
            <a:ext cx="4200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44401" y="2900511"/>
            <a:ext cx="3983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3-4 events booked vs 13 Q1 target (24%).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4401" y="3084612"/>
            <a:ext cx="398350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$43K revenue vs $174K budget. Pipeline review required.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667250" y="781050"/>
            <a:ext cx="4159300" cy="2390180"/>
          </a:xfrm>
          <a:prstGeom prst="roundRect">
            <a:avLst>
              <a:gd name="adj" fmla="val 2125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794200" y="908000"/>
            <a:ext cx="39835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 Aging Summary ($147K Total)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94200" y="1630114"/>
            <a:ext cx="3905399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94200" y="1326952"/>
            <a:ext cx="101086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(0-30 days)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99252" y="1326952"/>
            <a:ext cx="4083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 (0%)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94200" y="2103090"/>
            <a:ext cx="3905399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94200" y="1799927"/>
            <a:ext cx="5768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31-60 days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13353" y="1799927"/>
            <a:ext cx="6999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$13,213 (9%)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94200" y="2576066"/>
            <a:ext cx="3905399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94200" y="2272903"/>
            <a:ext cx="5768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61-90 days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949654" y="2272903"/>
            <a:ext cx="7649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$44,161 (30%)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94200" y="2745879"/>
            <a:ext cx="6934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90 days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949654" y="2745879"/>
            <a:ext cx="7649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ED5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$90,242 (61%)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667250" y="3272730"/>
            <a:ext cx="4159300" cy="1094780"/>
          </a:xfrm>
          <a:prstGeom prst="roundRect">
            <a:avLst>
              <a:gd name="adj" fmla="val 4640"/>
            </a:avLst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4686300" y="3272730"/>
            <a:ext cx="0" cy="1094780"/>
          </a:xfrm>
          <a:prstGeom prst="line">
            <a:avLst/>
          </a:prstGeom>
          <a:noFill/>
          <a:ln w="38100">
            <a:solidFill>
              <a:srgbClr val="ED561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6851" y="3374231"/>
            <a:ext cx="3996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Collections Actions Approved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6851" y="3567857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Michael Raley Farm: $58,302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806851" y="3707457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Divine Landscaping: $1,493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806851" y="3847058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Bridget Wilson Flowers: $1,266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806851" y="3986659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Georgia Builders: $709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806851" y="4151709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to collections: $62,151+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28650"/>
          </a:xfrm>
          <a:prstGeom prst="rect">
            <a:avLst/>
          </a:prstGeom>
          <a:solidFill>
            <a:srgbClr val="1C458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52400"/>
            <a:ext cx="867928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Actions Required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17450" y="781050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for Approval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7450" y="1034951"/>
            <a:ext cx="4159300" cy="510927"/>
          </a:xfrm>
          <a:prstGeom prst="roundRect">
            <a:avLst>
              <a:gd name="adj" fmla="val 9943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36500" y="1034951"/>
            <a:ext cx="0" cy="510927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051" y="1136452"/>
            <a:ext cx="3996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Approve Revised FY26 Budget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051" y="1330077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net income target from $4.2M to $6.4M based on RECs performance.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17450" y="1622078"/>
            <a:ext cx="4159300" cy="510927"/>
          </a:xfrm>
          <a:prstGeom prst="roundRect">
            <a:avLst>
              <a:gd name="adj" fmla="val 9943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36500" y="1622078"/>
            <a:ext cx="0" cy="510927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051" y="1723579"/>
            <a:ext cx="3996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Authorize Collections Campaign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051" y="1917204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$62K+ in delinquent accounts to collections. Write off $81.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17450" y="2209205"/>
            <a:ext cx="4159300" cy="510927"/>
          </a:xfrm>
          <a:prstGeom prst="roundRect">
            <a:avLst>
              <a:gd name="adj" fmla="val 9943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36500" y="2209205"/>
            <a:ext cx="0" cy="510927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051" y="2310705"/>
            <a:ext cx="3996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Bloom Marketing Cost Review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051" y="2504331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cost reduction plan by Q3. Target: Break-even by FY27.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17450" y="2796332"/>
            <a:ext cx="4159300" cy="510927"/>
          </a:xfrm>
          <a:prstGeom prst="roundRect">
            <a:avLst>
              <a:gd name="adj" fmla="val 9943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336500" y="2796332"/>
            <a:ext cx="0" cy="510927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051" y="2897832"/>
            <a:ext cx="3996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Events Strategy Refresh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051" y="3091458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pipeline and conversion. Consider reducing target to 40 events.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667250" y="781050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Needed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67250" y="1034951"/>
            <a:ext cx="4159300" cy="510927"/>
          </a:xfrm>
          <a:prstGeom prst="roundRect">
            <a:avLst>
              <a:gd name="adj" fmla="val 9943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686300" y="1034951"/>
            <a:ext cx="0" cy="510927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6851" y="1136452"/>
            <a:ext cx="3996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Edward Daniels Civil Suit ($22K)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6851" y="1330077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authorization to continue legal proceedings.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67250" y="1622078"/>
            <a:ext cx="4159300" cy="510927"/>
          </a:xfrm>
          <a:prstGeom prst="roundRect">
            <a:avLst>
              <a:gd name="adj" fmla="val 9943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686300" y="1622078"/>
            <a:ext cx="0" cy="510927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6851" y="1723579"/>
            <a:ext cx="3996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 Income Allocation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06851" y="1917204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$72K YTD exceeding budget. Maintain current cash strategy.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667250" y="2234505"/>
            <a:ext cx="4159300" cy="2024658"/>
          </a:xfrm>
          <a:prstGeom prst="roundRect">
            <a:avLst>
              <a:gd name="adj" fmla="val 250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768751" y="2336006"/>
            <a:ext cx="40354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Dates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68751" y="2953345"/>
            <a:ext cx="3956298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68751" y="2694682"/>
            <a:ext cx="104790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 Collections Launch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137773" y="2694682"/>
            <a:ext cx="5990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17, 2026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68751" y="3356372"/>
            <a:ext cx="3956298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68751" y="3097709"/>
            <a:ext cx="10995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Bill.com Implementation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137773" y="3097709"/>
            <a:ext cx="5990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31, 2026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768751" y="3759398"/>
            <a:ext cx="3956298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68751" y="3500735"/>
            <a:ext cx="12223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Mid-Year Financial Review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126611" y="3500735"/>
            <a:ext cx="61040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31, 2026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768751" y="3903762"/>
            <a:ext cx="11224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Cost Review Due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137773" y="3903762"/>
            <a:ext cx="5990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30, 2026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28650"/>
          </a:xfrm>
          <a:prstGeom prst="rect">
            <a:avLst/>
          </a:prstGeom>
          <a:solidFill>
            <a:srgbClr val="1C458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52400"/>
            <a:ext cx="867928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Revised FY26 Forecast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17450" y="781050"/>
            <a:ext cx="44043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Projection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7450" y="1034951"/>
            <a:ext cx="4317950" cy="2288381"/>
          </a:xfrm>
          <a:prstGeom prst="roundRect">
            <a:avLst>
              <a:gd name="adj" fmla="val 222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7450" y="1034951"/>
            <a:ext cx="4317950" cy="574477"/>
          </a:xfrm>
          <a:prstGeom prst="roundRect">
            <a:avLst>
              <a:gd name="adj" fmla="val 8843"/>
            </a:avLst>
          </a:prstGeom>
          <a:solidFill>
            <a:srgbClr val="1C458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17450" y="1604665"/>
            <a:ext cx="431795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4401" y="1250752"/>
            <a:ext cx="31742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657052" y="1250752"/>
            <a:ext cx="4405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90552" y="1250752"/>
            <a:ext cx="4472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30452" y="1250752"/>
            <a:ext cx="1815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44401" y="2179141"/>
            <a:ext cx="406405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401" y="1875979"/>
            <a:ext cx="7453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Revenue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975842" y="1875979"/>
            <a:ext cx="3241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$9.7M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094434" y="1875979"/>
            <a:ext cx="38892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$10.4M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276427" y="1875979"/>
            <a:ext cx="2366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+7%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44401" y="2652117"/>
            <a:ext cx="406405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4401" y="2348954"/>
            <a:ext cx="79075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Expenses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15133" y="2348954"/>
            <a:ext cx="3241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128367" y="2348954"/>
            <a:ext cx="3241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$4.0M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241602" y="2348954"/>
            <a:ext cx="2721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-27%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17450" y="2758380"/>
            <a:ext cx="4317950" cy="564952"/>
          </a:xfrm>
          <a:prstGeom prst="rect">
            <a:avLst/>
          </a:prstGeom>
          <a:solidFill>
            <a:srgbClr val="F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44401" y="2974181"/>
            <a:ext cx="6284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Income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899493" y="2974181"/>
            <a:ext cx="3241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$4.2M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056186" y="2974181"/>
            <a:ext cx="3241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$6.4M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212878" y="2974181"/>
            <a:ext cx="3014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17450" y="3450282"/>
            <a:ext cx="4317950" cy="1034802"/>
          </a:xfrm>
          <a:prstGeom prst="roundRect">
            <a:avLst>
              <a:gd name="adj" fmla="val 4909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336500" y="3450282"/>
            <a:ext cx="0" cy="1034802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2501" y="3577233"/>
            <a:ext cx="4106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Outlook: Strong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2501" y="3805833"/>
            <a:ext cx="41064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performance provides significant upside cushion.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2501" y="3989933"/>
            <a:ext cx="41064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position remains robust for interest income.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2501" y="4174034"/>
            <a:ext cx="41064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risk: AR collections and Bloom cost management.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25901" y="781050"/>
            <a:ext cx="40806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Net Income Forecast</a:t>
            </a:r>
            <a:endParaRPr lang="en-US" sz="11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4825901" y="1034951"/>
          <a:ext cx="3936950" cy="3048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28650"/>
          </a:xfrm>
          <a:prstGeom prst="rect">
            <a:avLst/>
          </a:prstGeom>
          <a:solidFill>
            <a:srgbClr val="50B4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52400"/>
            <a:ext cx="867928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Sales Update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17450" y="781050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Non-Agricultural Sales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7450" y="1034951"/>
            <a:ext cx="4159300" cy="628501"/>
          </a:xfrm>
          <a:prstGeom prst="roundRect">
            <a:avLst>
              <a:gd name="adj" fmla="val 8083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36500" y="1034951"/>
            <a:ext cx="0" cy="628501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2501" y="1195239"/>
            <a:ext cx="8276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Soil Blenders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08784" y="1161901"/>
            <a:ext cx="7558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$XX,XXX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2501" y="1422202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vs Target: XX% | Key customers seeing business downturn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17450" y="1764953"/>
            <a:ext cx="4159300" cy="628501"/>
          </a:xfrm>
          <a:prstGeom prst="roundRect">
            <a:avLst>
              <a:gd name="adj" fmla="val 8083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36500" y="1764953"/>
            <a:ext cx="0" cy="628501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501" y="1925241"/>
            <a:ext cx="799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08784" y="1891903"/>
            <a:ext cx="7558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$XX,XXX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2501" y="2152204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vs Target: XX%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17450" y="2494955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Agricultural Sales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17450" y="2748855"/>
            <a:ext cx="4159300" cy="628501"/>
          </a:xfrm>
          <a:prstGeom prst="roundRect">
            <a:avLst>
              <a:gd name="adj" fmla="val 8083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36500" y="2748855"/>
            <a:ext cx="0" cy="628501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2501" y="2909143"/>
            <a:ext cx="10942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Direct Sales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08784" y="2875806"/>
            <a:ext cx="7558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$XX,XXX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2501" y="3136106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spring season despite weather challenges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667250" y="781050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Performance Chart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021139" y="1852464"/>
            <a:ext cx="14805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[Sales by Customer Type]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67250" y="2914352"/>
            <a:ext cx="4159300" cy="853827"/>
          </a:xfrm>
          <a:prstGeom prst="roundRect">
            <a:avLst>
              <a:gd name="adj" fmla="val 5950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686300" y="2914352"/>
            <a:ext cx="0" cy="853827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6851" y="3015853"/>
            <a:ext cx="3996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6851" y="3209479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were aggressive - would have required perfect weather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806851" y="3361879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April goal, came close in March &amp; May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806851" y="3514279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constraints impacting delivery capacity</a:t>
            </a:r>
            <a:endParaRPr lang="en-US" sz="80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667250" y="1034951"/>
          <a:ext cx="4159300" cy="1777901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28650"/>
          </a:xfrm>
          <a:prstGeom prst="rect">
            <a:avLst/>
          </a:prstGeom>
          <a:solidFill>
            <a:srgbClr val="50B43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52400"/>
            <a:ext cx="867928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Marketing Highlights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17450" y="781050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Wins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7450" y="1034951"/>
            <a:ext cx="4159300" cy="733276"/>
          </a:xfrm>
          <a:prstGeom prst="roundRect">
            <a:avLst>
              <a:gd name="adj" fmla="val 6928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36500" y="1034951"/>
            <a:ext cx="0" cy="733276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2501" y="1161901"/>
            <a:ext cx="3944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Greatest Recycled Story Never Told"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2501" y="1355527"/>
            <a:ext cx="39446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by WTOP in three-part video series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82501" y="1526977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58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900+ shares | 47,000+ views on Instagram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17450" y="1869728"/>
            <a:ext cx="4159300" cy="733276"/>
          </a:xfrm>
          <a:prstGeom prst="roundRect">
            <a:avLst>
              <a:gd name="adj" fmla="val 6928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36500" y="1869728"/>
            <a:ext cx="0" cy="733276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501" y="1996678"/>
            <a:ext cx="3944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Coverage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2501" y="2190304"/>
            <a:ext cx="39446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press coverage and social media engagement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2501" y="2361754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58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awareness continuing to grow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17450" y="2704505"/>
            <a:ext cx="4159300" cy="733276"/>
          </a:xfrm>
          <a:prstGeom prst="roundRect">
            <a:avLst>
              <a:gd name="adj" fmla="val 6928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336500" y="2704505"/>
            <a:ext cx="0" cy="733276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2501" y="2831455"/>
            <a:ext cx="3944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Relationships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2501" y="3025080"/>
            <a:ext cx="39446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Strengthening farm and distributor partnerships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2501" y="3196530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58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XX new partners this quarter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667250" y="781050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Quarter Focus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67250" y="1034951"/>
            <a:ext cx="4159300" cy="1133177"/>
          </a:xfrm>
          <a:prstGeom prst="roundRect">
            <a:avLst>
              <a:gd name="adj" fmla="val 4483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686300" y="1034951"/>
            <a:ext cx="0" cy="1133177"/>
          </a:xfrm>
          <a:prstGeom prst="line">
            <a:avLst/>
          </a:prstGeom>
          <a:noFill/>
          <a:ln w="38100">
            <a:solidFill>
              <a:srgbClr val="1C458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32300" y="1161901"/>
            <a:ext cx="3944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Upcoming Initiatives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32300" y="1380976"/>
            <a:ext cx="3944645" cy="11430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and plant visits for Maryland legislators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832300" y="1546027"/>
            <a:ext cx="3944645" cy="11430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land purchase for storage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32300" y="1711077"/>
            <a:ext cx="3944645" cy="11430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Curing/storage pad construction at Blue Plains (ETA early 2026)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832300" y="1876127"/>
            <a:ext cx="3944645" cy="11430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10th Birthday planning (2026)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67250" y="2320528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Updates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667250" y="2574429"/>
            <a:ext cx="4159300" cy="733276"/>
          </a:xfrm>
          <a:prstGeom prst="roundRect">
            <a:avLst>
              <a:gd name="adj" fmla="val 6928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4686300" y="2574429"/>
            <a:ext cx="0" cy="733276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32300" y="2701379"/>
            <a:ext cx="3944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Search Status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32300" y="2895005"/>
            <a:ext cx="394464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Actively pursuing storage land acquisition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32300" y="3066455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58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for scaling operations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28650"/>
          </a:xfrm>
          <a:prstGeom prst="rect">
            <a:avLst/>
          </a:prstGeom>
          <a:solidFill>
            <a:srgbClr val="058D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52400"/>
            <a:ext cx="867928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Performance &amp; Market Update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17450" y="781050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Performance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7450" y="1034951"/>
            <a:ext cx="2028825" cy="977801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17450" y="1054001"/>
            <a:ext cx="2028825" cy="0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10" y="1225451"/>
            <a:ext cx="17585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Revenue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2610" y="1409551"/>
            <a:ext cx="175850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$2.52M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2610" y="1727002"/>
            <a:ext cx="17585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207% of Q1 Budget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447776" y="1034951"/>
            <a:ext cx="2028974" cy="977801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447776" y="1054001"/>
            <a:ext cx="2028974" cy="0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82934" y="1225451"/>
            <a:ext cx="17586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Contribution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82934" y="1409551"/>
            <a:ext cx="17586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$2.39M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582934" y="1727002"/>
            <a:ext cx="17586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margin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50" y="2241203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Trend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7250" y="781050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Updates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67250" y="1034951"/>
            <a:ext cx="4159300" cy="968127"/>
          </a:xfrm>
          <a:prstGeom prst="roundRect">
            <a:avLst>
              <a:gd name="adj" fmla="val 5247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686300" y="1034951"/>
            <a:ext cx="0" cy="968127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32300" y="1161901"/>
            <a:ext cx="3944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Jersey RPS Revision (May)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32300" y="1380976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Revised Renewable Portfolio Standards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832300" y="1546027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Favorable impact on REC demand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832300" y="1711077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outlook remains strong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667250" y="2104579"/>
            <a:ext cx="4159300" cy="968127"/>
          </a:xfrm>
          <a:prstGeom prst="roundRect">
            <a:avLst>
              <a:gd name="adj" fmla="val 5247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686300" y="2104579"/>
            <a:ext cx="0" cy="968127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32300" y="2231529"/>
            <a:ext cx="3944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Environment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32300" y="2450604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executive orders monitored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832300" y="2615654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State-level RPS programs driving demand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832300" y="2780705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contracts providing stability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667250" y="3174206"/>
            <a:ext cx="4159300" cy="803077"/>
          </a:xfrm>
          <a:prstGeom prst="roundRect">
            <a:avLst>
              <a:gd name="adj" fmla="val 6326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4686300" y="3174206"/>
            <a:ext cx="0" cy="803077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32300" y="3301157"/>
            <a:ext cx="3944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Outlook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32300" y="3520232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pricing expected through FY26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32300" y="3685282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Diversifying buyer relationships</a:t>
            </a:r>
            <a:endParaRPr lang="en-US" sz="8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317450" y="2495104"/>
          <a:ext cx="4159300" cy="20319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28650"/>
          </a:xfrm>
          <a:prstGeom prst="rect">
            <a:avLst/>
          </a:prstGeom>
          <a:solidFill>
            <a:srgbClr val="1C458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52400"/>
            <a:ext cx="867928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HQO - Events Performance Overview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17450" y="781050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Metrics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7450" y="1034951"/>
            <a:ext cx="2028825" cy="815727"/>
          </a:xfrm>
          <a:prstGeom prst="roundRect">
            <a:avLst>
              <a:gd name="adj" fmla="val 6228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17450" y="1054001"/>
            <a:ext cx="2028825" cy="0"/>
          </a:xfrm>
          <a:prstGeom prst="line">
            <a:avLst/>
          </a:prstGeom>
          <a:noFill/>
          <a:ln w="38100">
            <a:solidFill>
              <a:srgbClr val="1C458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6652" y="1200001"/>
            <a:ext cx="18104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 Booked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26652" y="1365052"/>
            <a:ext cx="181042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6652" y="1628477"/>
            <a:ext cx="18104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XX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447776" y="1034951"/>
            <a:ext cx="2028974" cy="815727"/>
          </a:xfrm>
          <a:prstGeom prst="roundRect">
            <a:avLst>
              <a:gd name="adj" fmla="val 6228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447776" y="1054001"/>
            <a:ext cx="2028974" cy="0"/>
          </a:xfrm>
          <a:prstGeom prst="line">
            <a:avLst/>
          </a:prstGeom>
          <a:noFill/>
          <a:ln w="38100">
            <a:solidFill>
              <a:srgbClr val="1C458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56976" y="1200001"/>
            <a:ext cx="18105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556976" y="1365052"/>
            <a:ext cx="18105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$XXK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556976" y="1628477"/>
            <a:ext cx="18105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$XXK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17450" y="1977628"/>
            <a:ext cx="2028825" cy="815727"/>
          </a:xfrm>
          <a:prstGeom prst="roundRect">
            <a:avLst>
              <a:gd name="adj" fmla="val 6228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317450" y="1996678"/>
            <a:ext cx="2028825" cy="0"/>
          </a:xfrm>
          <a:prstGeom prst="line">
            <a:avLst/>
          </a:prstGeom>
          <a:noFill/>
          <a:ln w="38100">
            <a:solidFill>
              <a:srgbClr val="1C458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6652" y="2142679"/>
            <a:ext cx="18104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Event Value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26652" y="2307729"/>
            <a:ext cx="181042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$X,XXX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26652" y="2571155"/>
            <a:ext cx="18104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LY: +XX%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47776" y="1977628"/>
            <a:ext cx="2028974" cy="815727"/>
          </a:xfrm>
          <a:prstGeom prst="roundRect">
            <a:avLst>
              <a:gd name="adj" fmla="val 6228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2447776" y="1996678"/>
            <a:ext cx="2028974" cy="0"/>
          </a:xfrm>
          <a:prstGeom prst="line">
            <a:avLst/>
          </a:prstGeom>
          <a:noFill/>
          <a:ln w="38100">
            <a:solidFill>
              <a:srgbClr val="1C458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56976" y="2142679"/>
            <a:ext cx="18105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 Rate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556976" y="2307729"/>
            <a:ext cx="18105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XX%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556976" y="2571155"/>
            <a:ext cx="18105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Inquiries → Bookings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17450" y="2920305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Metrics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7450" y="3174206"/>
            <a:ext cx="2028825" cy="815727"/>
          </a:xfrm>
          <a:prstGeom prst="roundRect">
            <a:avLst>
              <a:gd name="adj" fmla="val 6228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317450" y="3193256"/>
            <a:ext cx="2028825" cy="0"/>
          </a:xfrm>
          <a:prstGeom prst="line">
            <a:avLst/>
          </a:prstGeom>
          <a:noFill/>
          <a:ln w="38100">
            <a:solidFill>
              <a:srgbClr val="1C458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6652" y="3339257"/>
            <a:ext cx="18104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Placed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26652" y="3504307"/>
            <a:ext cx="181042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XXX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26652" y="3767733"/>
            <a:ext cx="18104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Week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447776" y="3174206"/>
            <a:ext cx="2028974" cy="815727"/>
          </a:xfrm>
          <a:prstGeom prst="roundRect">
            <a:avLst>
              <a:gd name="adj" fmla="val 6228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2447776" y="3193256"/>
            <a:ext cx="2028974" cy="0"/>
          </a:xfrm>
          <a:prstGeom prst="line">
            <a:avLst/>
          </a:prstGeom>
          <a:noFill/>
          <a:ln w="38100">
            <a:solidFill>
              <a:srgbClr val="1C458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56976" y="3339257"/>
            <a:ext cx="18105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Tours Given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556976" y="3504307"/>
            <a:ext cx="18105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XX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2556976" y="3767733"/>
            <a:ext cx="18105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Month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667250" y="781050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Working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667250" y="1034951"/>
            <a:ext cx="4159300" cy="475952"/>
          </a:xfrm>
          <a:prstGeom prst="roundRect">
            <a:avLst>
              <a:gd name="adj" fmla="val 10673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4686300" y="1034951"/>
            <a:ext cx="0" cy="475952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6851" y="1136452"/>
            <a:ext cx="39965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Events Growth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06851" y="1295102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Increased corporate bookings and repeat clients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667250" y="1587103"/>
            <a:ext cx="4159300" cy="475952"/>
          </a:xfrm>
          <a:prstGeom prst="roundRect">
            <a:avLst>
              <a:gd name="adj" fmla="val 10673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4686300" y="1587103"/>
            <a:ext cx="0" cy="475952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6851" y="1688604"/>
            <a:ext cx="39965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Wedding Package Updates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06851" y="1847255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packages driving higher average values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667250" y="2164556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667250" y="2418457"/>
            <a:ext cx="4159300" cy="475952"/>
          </a:xfrm>
          <a:prstGeom prst="roundRect">
            <a:avLst>
              <a:gd name="adj" fmla="val 10673"/>
            </a:avLst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4686300" y="2418457"/>
            <a:ext cx="0" cy="475952"/>
          </a:xfrm>
          <a:prstGeom prst="line">
            <a:avLst/>
          </a:prstGeom>
          <a:noFill/>
          <a:ln w="38100">
            <a:solidFill>
              <a:srgbClr val="ED561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06851" y="2519958"/>
            <a:ext cx="39965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Pipeline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806851" y="2678609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at 24% of Q1 target - requires review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667250" y="2970609"/>
            <a:ext cx="4159300" cy="475952"/>
          </a:xfrm>
          <a:prstGeom prst="roundRect">
            <a:avLst>
              <a:gd name="adj" fmla="val 10673"/>
            </a:avLst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Shape 49"/>
          <p:cNvSpPr/>
          <p:nvPr/>
        </p:nvSpPr>
        <p:spPr>
          <a:xfrm>
            <a:off x="4686300" y="2970609"/>
            <a:ext cx="0" cy="475952"/>
          </a:xfrm>
          <a:prstGeom prst="line">
            <a:avLst/>
          </a:prstGeom>
          <a:noFill/>
          <a:ln w="38100">
            <a:solidFill>
              <a:srgbClr val="ED561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6851" y="3072110"/>
            <a:ext cx="39965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Timing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806851" y="3230761"/>
            <a:ext cx="3996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typically slower - focus on Q2-Q3 bookings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28650"/>
          </a:xfrm>
          <a:prstGeom prst="rect">
            <a:avLst/>
          </a:prstGeom>
          <a:solidFill>
            <a:srgbClr val="1C458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7450" y="152400"/>
            <a:ext cx="867928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Initiatives &amp; Passive Income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17450" y="781050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Passive Income Streams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7450" y="1034951"/>
            <a:ext cx="4159300" cy="590401"/>
          </a:xfrm>
          <a:prstGeom prst="roundRect">
            <a:avLst>
              <a:gd name="adj" fmla="val 8604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36500" y="1034951"/>
            <a:ext cx="0" cy="590401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2501" y="1176189"/>
            <a:ext cx="1221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Tower Revenue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798838" y="1161901"/>
            <a:ext cx="5619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$43,182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2501" y="1384102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of Q1 Budget | 100% margin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17450" y="1726853"/>
            <a:ext cx="4159300" cy="590401"/>
          </a:xfrm>
          <a:prstGeom prst="roundRect">
            <a:avLst>
              <a:gd name="adj" fmla="val 8604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36500" y="1726853"/>
            <a:ext cx="0" cy="590401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501" y="1868091"/>
            <a:ext cx="9572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 Income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98838" y="1853803"/>
            <a:ext cx="5619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$72,048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2501" y="2076004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5.5% yield on $14.3M cash | 99% of Q1 Budget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17450" y="2418755"/>
            <a:ext cx="4159300" cy="590401"/>
          </a:xfrm>
          <a:prstGeom prst="roundRect">
            <a:avLst>
              <a:gd name="adj" fmla="val 8604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336500" y="2418755"/>
            <a:ext cx="0" cy="590401"/>
          </a:xfrm>
          <a:prstGeom prst="line">
            <a:avLst/>
          </a:prstGeom>
          <a:noFill/>
          <a:ln w="38100">
            <a:solidFill>
              <a:srgbClr val="50B4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2501" y="2559993"/>
            <a:ext cx="8900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&amp; Licensing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798838" y="2545705"/>
            <a:ext cx="5619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0B4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$61,500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2501" y="2767905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 of Q1 Budget | High-margin revenue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667250" y="781050"/>
            <a:ext cx="42424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Initiatives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67250" y="1034951"/>
            <a:ext cx="4159300" cy="714226"/>
          </a:xfrm>
          <a:prstGeom prst="roundRect">
            <a:avLst>
              <a:gd name="adj" fmla="val 7113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686300" y="1034951"/>
            <a:ext cx="0" cy="714226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32300" y="1161901"/>
            <a:ext cx="3944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Bill.com Implementation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32300" y="1355527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Streamlining AP/AR processes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832300" y="1507927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58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Jan 31, 2026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67250" y="1850678"/>
            <a:ext cx="4159300" cy="714226"/>
          </a:xfrm>
          <a:prstGeom prst="roundRect">
            <a:avLst>
              <a:gd name="adj" fmla="val 7113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686300" y="1850678"/>
            <a:ext cx="0" cy="714226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32300" y="1977628"/>
            <a:ext cx="3944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Branding Focus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32300" y="2171254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Expanding brand awareness and market presence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832300" y="2323654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58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667250" y="2666405"/>
            <a:ext cx="4159300" cy="714226"/>
          </a:xfrm>
          <a:prstGeom prst="roundRect">
            <a:avLst>
              <a:gd name="adj" fmla="val 7113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4686300" y="2666405"/>
            <a:ext cx="0" cy="714226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32300" y="2793355"/>
            <a:ext cx="3944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Acquisition Search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32300" y="2986980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capacity expansion for Bloom operations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32300" y="3139380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58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667250" y="3482132"/>
            <a:ext cx="4159300" cy="714226"/>
          </a:xfrm>
          <a:prstGeom prst="roundRect">
            <a:avLst>
              <a:gd name="adj" fmla="val 7113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4686300" y="3482132"/>
            <a:ext cx="0" cy="714226"/>
          </a:xfrm>
          <a:prstGeom prst="line">
            <a:avLst/>
          </a:prstGeom>
          <a:noFill/>
          <a:ln w="38100">
            <a:solidFill>
              <a:srgbClr val="058DC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32300" y="3609082"/>
            <a:ext cx="3944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4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Plains Construction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32300" y="3802707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Curing/storage pad development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832300" y="3955107"/>
            <a:ext cx="39446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58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ETA: Early 2026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C4587"/>
                </a:solidFill>
              </a:rPr>
              <a:t>Questions &amp; Comments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</a:rPr>
              <a:t>Thank you for your time and engagement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0" y="3657600"/>
            <a:ext cx="3657600" cy="9144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0" y="37947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4587"/>
                </a:solidFill>
              </a:rPr>
              <a:t>Blue Drop, LLC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FY26 Q2 Board Update</a:t>
            </a:r>
            <a:endParaRPr lang="en-US" sz="1200" dirty="0"/>
          </a:p>
        </p:txBody>
      </p:sp>
      <p:pic>
        <p:nvPicPr>
          <p:cNvPr id="6" name="Image 0" descr="/Users/loveg/Documents/SDO - Workspace/pptx_workspace/bluedrop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274320"/>
            <a:ext cx="1371600" cy="1005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FY26 Q2 Board Update</dc:title>
  <dc:subject>Quarterly Board Presentation Template</dc:subject>
  <dc:creator>Blue Drop, LLC</dc:creator>
  <cp:lastModifiedBy>Blue Drop, LLC</cp:lastModifiedBy>
  <cp:revision>1</cp:revision>
  <dcterms:created xsi:type="dcterms:W3CDTF">2026-01-19T21:31:58Z</dcterms:created>
  <dcterms:modified xsi:type="dcterms:W3CDTF">2026-01-19T21:31:58Z</dcterms:modified>
</cp:coreProperties>
</file>