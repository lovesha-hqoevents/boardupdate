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 Budget</c:v>
                </c:pt>
              </c:strCache>
            </c:strRef>
          </c:tx>
          <c:spPr>
            <a:solidFill>
              <a:srgbClr val="1C28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RECs</c:v>
                  </c:pt>
                  <c:pt idx="1">
                    <c:v>Bloom Mktg</c:v>
                  </c:pt>
                  <c:pt idx="2">
                    <c:v>Events</c:v>
                  </c:pt>
                  <c:pt idx="3">
                    <c:v>IP</c:v>
                  </c:pt>
                  <c:pt idx="4">
                    <c:v>Interest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1215163</c:v>
                </c:pt>
                <c:pt idx="1">
                  <c:v>826235</c:v>
                </c:pt>
                <c:pt idx="2">
                  <c:v>174000</c:v>
                </c:pt>
                <c:pt idx="3">
                  <c:v>85232</c:v>
                </c:pt>
                <c:pt idx="4">
                  <c:v>72500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YTD Actual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RECs</c:v>
                  </c:pt>
                  <c:pt idx="1">
                    <c:v>Bloom Mktg</c:v>
                  </c:pt>
                  <c:pt idx="2">
                    <c:v>Events</c:v>
                  </c:pt>
                  <c:pt idx="3">
                    <c:v>IP</c:v>
                  </c:pt>
                  <c:pt idx="4">
                    <c:v>Interest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2518742</c:v>
                </c:pt>
                <c:pt idx="1">
                  <c:v>261185</c:v>
                </c:pt>
                <c:pt idx="2">
                  <c:v>43299</c:v>
                </c:pt>
                <c:pt idx="3">
                  <c:v>61500</c:v>
                </c:pt>
                <c:pt idx="4">
                  <c:v>72048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FY26 Quarterly Forecast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077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(YTD)</c:v>
                  </c:pt>
                  <c:pt idx="1">
                    <c:v>Q2 Forecast</c:v>
                  </c:pt>
                  <c:pt idx="2">
                    <c:v>Q3 Forecast</c:v>
                  </c:pt>
                  <c:pt idx="3">
                    <c:v>Q4 Forecast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3020957</c:v>
                </c:pt>
                <c:pt idx="1">
                  <c:v>2400000</c:v>
                </c:pt>
                <c:pt idx="2">
                  <c:v>2500000</c:v>
                </c:pt>
                <c:pt idx="3">
                  <c:v>2500000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Income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(YTD)</c:v>
                  </c:pt>
                  <c:pt idx="1">
                    <c:v>Q2 Forecast</c:v>
                  </c:pt>
                  <c:pt idx="2">
                    <c:v>Q3 Forecast</c:v>
                  </c:pt>
                  <c:pt idx="3">
                    <c:v>Q4 Forecast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1857668</c:v>
                </c:pt>
                <c:pt idx="1">
                  <c:v>1100000</c:v>
                </c:pt>
                <c:pt idx="2">
                  <c:v>1200000</c:v>
                </c:pt>
                <c:pt idx="3">
                  <c:v>1200000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7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98198" y="1401812"/>
            <a:ext cx="4147456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Drop, LLC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900694" y="2293888"/>
            <a:ext cx="534246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800" dirty="0">
                <a:solidFill>
                  <a:srgbClr val="C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Q2 Board Financial Update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865351" y="3084463"/>
            <a:ext cx="141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92956" y="3605064"/>
            <a:ext cx="455808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600" dirty="0">
                <a:solidFill>
                  <a:srgbClr val="90E0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 Through January 19,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- YTD vs Budget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819150"/>
            <a:ext cx="2836366" cy="961876"/>
          </a:xfrm>
          <a:prstGeom prst="roundRect">
            <a:avLst>
              <a:gd name="adj" fmla="val 7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3470" dir="27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41263" y="819150"/>
            <a:ext cx="0" cy="961876"/>
          </a:xfrm>
          <a:prstGeom prst="line">
            <a:avLst/>
          </a:prstGeom>
          <a:noFill/>
          <a:ln w="47625">
            <a:solidFill>
              <a:srgbClr val="27AE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5575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Revenue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55575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$3.02M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5575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124% of Q1 Budget ($2.43M)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53817" y="819150"/>
            <a:ext cx="2836366" cy="961876"/>
          </a:xfrm>
          <a:prstGeom prst="roundRect">
            <a:avLst>
              <a:gd name="adj" fmla="val 7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3470" dir="27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177629" y="819150"/>
            <a:ext cx="0" cy="961876"/>
          </a:xfrm>
          <a:prstGeom prst="line">
            <a:avLst/>
          </a:prstGeom>
          <a:noFill/>
          <a:ln w="47625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91942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Net Income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91942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$1.86M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91942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179% of Q1 Budget ($1.04M)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90183" y="819150"/>
            <a:ext cx="2836366" cy="961876"/>
          </a:xfrm>
          <a:prstGeom prst="roundRect">
            <a:avLst>
              <a:gd name="adj" fmla="val 7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3470" dir="27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013996" y="819150"/>
            <a:ext cx="0" cy="961876"/>
          </a:xfrm>
          <a:prstGeom prst="line">
            <a:avLst/>
          </a:prstGeom>
          <a:noFill/>
          <a:ln w="47625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8308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Expenses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28308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$1.16M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28308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of Q1 Budget (Favorable)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7450" y="1933426"/>
            <a:ext cx="8509099" cy="3019574"/>
          </a:xfrm>
          <a:prstGeom prst="roundRect">
            <a:avLst>
              <a:gd name="adj" fmla="val 2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3470" dir="27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208582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Highlights (Oct 1, 2025 - Jan 19, 2026)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950" y="2358777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revenue driving exceptional performance at $2.52M YTD (207% of Q1 budget), significantly exceeding projections.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2599879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 segment losing $586K YTD - hauling COGS ($511K) and land app fees driving losses.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950" y="2840980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at only 24% of Q1 target (3-4 events booked vs 13 budgeted) - requires pipeline review.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950" y="3082082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position strong at $14.3M with 5.5% yield generating $72K interest income (99% of Q1 budget).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69702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01501"/>
            <a:ext cx="8679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Revenue vs Q1 Budget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7450" y="571202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Comparison (Oct 1, 2025 - Jan 19, 2026)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7450" y="755303"/>
            <a:ext cx="4063901" cy="308997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450" y="755303"/>
            <a:ext cx="4063901" cy="358676"/>
          </a:xfrm>
          <a:prstGeom prst="roundRect">
            <a:avLst>
              <a:gd name="adj" fmla="val 14163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17450" y="1109216"/>
            <a:ext cx="4063901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650" y="882253"/>
            <a:ext cx="15959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42636" y="882253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Budget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724873" y="882253"/>
            <a:ext cx="7980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Actual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507266" y="882253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Q1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8201" y="1467594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8951" y="1253430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(Renewable Energy)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947898" y="125343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$1,215,163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720016" y="1253430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$2,518,742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92288" y="125343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68201" y="1800671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8951" y="1586508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947898" y="1586508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$826,235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720016" y="1586508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$261,185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92288" y="1586508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8201" y="2133749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8951" y="1919585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Sales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947898" y="191958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$137,500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720016" y="1919585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$90,769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492288" y="191958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8201" y="2466826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8951" y="2252663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47898" y="2252663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$174,000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720016" y="2252663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$43,299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492288" y="2252663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68201" y="2799904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8951" y="2585740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&amp; Products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947898" y="258574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$85,232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720016" y="2585740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$61,500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92288" y="258574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68201" y="3132981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8951" y="2918817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947898" y="2918817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$44,993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20016" y="2918817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$43,182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492288" y="2918817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68201" y="3466058"/>
            <a:ext cx="396240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8951" y="3251895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947898" y="325189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$72,500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720016" y="3251895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$72,048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492288" y="325189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17450" y="3496121"/>
            <a:ext cx="4063901" cy="349151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93650" y="3623072"/>
            <a:ext cx="15959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942636" y="3623072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$2,431,310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724873" y="3623072"/>
            <a:ext cx="7980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$3,020,957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507266" y="3623072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124%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08302" y="571202"/>
            <a:ext cx="44046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Status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08302" y="755303"/>
            <a:ext cx="4318248" cy="1125141"/>
          </a:xfrm>
          <a:prstGeom prst="roundRect">
            <a:avLst>
              <a:gd name="adj" fmla="val 451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4584502" y="1023193"/>
            <a:ext cx="416584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84502" y="877342"/>
            <a:ext cx="2368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174682" y="856804"/>
            <a:ext cx="575667" cy="136327"/>
          </a:xfrm>
          <a:prstGeom prst="roundRect">
            <a:avLst>
              <a:gd name="adj" fmla="val 55895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238083" y="882104"/>
            <a:ext cx="4578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EXCEEDING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4584502" y="1219646"/>
            <a:ext cx="416584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84502" y="1073795"/>
            <a:ext cx="6802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267998" y="1053257"/>
            <a:ext cx="482352" cy="136327"/>
          </a:xfrm>
          <a:prstGeom prst="roundRect">
            <a:avLst>
              <a:gd name="adj" fmla="val 55895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331398" y="1078557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4584502" y="1416100"/>
            <a:ext cx="416584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84502" y="1270248"/>
            <a:ext cx="2771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8267998" y="1249710"/>
            <a:ext cx="482352" cy="136327"/>
          </a:xfrm>
          <a:prstGeom prst="roundRect">
            <a:avLst>
              <a:gd name="adj" fmla="val 55895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331398" y="1275011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4584502" y="1612553"/>
            <a:ext cx="416584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84502" y="1466701"/>
            <a:ext cx="62482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8221414" y="1446163"/>
            <a:ext cx="528935" cy="136327"/>
          </a:xfrm>
          <a:prstGeom prst="roundRect">
            <a:avLst>
              <a:gd name="adj" fmla="val 55895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284815" y="1471464"/>
            <a:ext cx="4101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4584502" y="1663154"/>
            <a:ext cx="46695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8221414" y="1642616"/>
            <a:ext cx="528935" cy="136327"/>
          </a:xfrm>
          <a:prstGeom prst="roundRect">
            <a:avLst>
              <a:gd name="adj" fmla="val 55895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284815" y="1667917"/>
            <a:ext cx="4101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08302" y="1981944"/>
            <a:ext cx="44046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vs Budget Chart</a:t>
            </a:r>
            <a:endParaRPr lang="en-US" sz="9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4508302" y="2166045"/>
          <a:ext cx="4318248" cy="1905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49176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26950"/>
            <a:ext cx="867928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Segment Profitability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17450" y="676126"/>
            <a:ext cx="4261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Profitable Segments (YTD)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7450" y="89520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895201"/>
            <a:ext cx="0" cy="415826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051" y="976164"/>
            <a:ext cx="14577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(Renewable Energy)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84687" y="971401"/>
            <a:ext cx="7238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+$2,392,648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051" y="113957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$2.52M | COGS: $126K | 207% of Q1 Budget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17450" y="1374428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6500" y="1374428"/>
            <a:ext cx="0" cy="415826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051" y="1455390"/>
            <a:ext cx="8617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861048" y="1450628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+$72,048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051" y="1618804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 yield on $14.3M cash | 99% of Q1 Budget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7450" y="1853654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36500" y="1853654"/>
            <a:ext cx="0" cy="415826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051" y="1934617"/>
            <a:ext cx="8012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&amp; Licensing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61048" y="1929854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+$51,500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051" y="2098030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$61.5K | Expenses: $10K | 72% of Q1 Budget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17450" y="233288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36500" y="2332881"/>
            <a:ext cx="0" cy="415826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051" y="2413843"/>
            <a:ext cx="6457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61048" y="2409081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+$43,182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051" y="257725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income | 100% margin | 96% of Q1 Budget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17450" y="2812107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6500" y="2812107"/>
            <a:ext cx="0" cy="415826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051" y="2893070"/>
            <a:ext cx="6998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Sales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61048" y="2888307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+$51,233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051" y="3056483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$90.8K | COGS: $39.5K | 66% of Q1 Budget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648200" y="676126"/>
            <a:ext cx="4261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Loss-Making Segments (YTD)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8200" y="89520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667250" y="895201"/>
            <a:ext cx="0" cy="415826"/>
          </a:xfrm>
          <a:prstGeom prst="line">
            <a:avLst/>
          </a:prstGeom>
          <a:noFill/>
          <a:ln w="381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87801" y="976164"/>
            <a:ext cx="9457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53102" y="971401"/>
            <a:ext cx="583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-$586,166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87801" y="113957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$261K | Expenses: $847K | Hauling COGS: $511K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48200" y="1374428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67250" y="1374428"/>
            <a:ext cx="0" cy="415826"/>
          </a:xfrm>
          <a:prstGeom prst="line">
            <a:avLst/>
          </a:prstGeom>
          <a:noFill/>
          <a:ln w="381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87801" y="1455390"/>
            <a:ext cx="3823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23796" y="1450628"/>
            <a:ext cx="511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-$50,824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87801" y="1618804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$43K | Expenses: $94K | Only 3-4 of 13 events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48200" y="1866454"/>
            <a:ext cx="4178350" cy="844302"/>
          </a:xfrm>
          <a:prstGeom prst="roundRect">
            <a:avLst>
              <a:gd name="adj" fmla="val 6017"/>
            </a:avLst>
          </a:prstGeom>
          <a:solidFill>
            <a:srgbClr val="FEF9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67250" y="1866454"/>
            <a:ext cx="0" cy="844302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87801" y="1967954"/>
            <a:ext cx="40159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9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Variance Drivers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87801" y="21520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7D66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Bloom Mktg: Hauling COGS ($511K) + Land App ($91K) exceeding revenue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787801" y="23044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7D66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Events: 25% of target bookings - pipeline review required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87801" y="24568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7D66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RECs outperformance (+$1.3M) offsetting segment losses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8200" y="2786955"/>
            <a:ext cx="4178350" cy="676126"/>
          </a:xfrm>
          <a:prstGeom prst="roundRect">
            <a:avLst>
              <a:gd name="adj" fmla="val 7513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775150" y="2913906"/>
            <a:ext cx="40029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DC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Net Income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75150" y="3098006"/>
            <a:ext cx="400293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$1,857,668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Issues Requiring Board Attention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44401" y="914251"/>
            <a:ext cx="12320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AR Aging Crisis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23531" y="908000"/>
            <a:ext cx="626269" cy="164902"/>
          </a:xfrm>
          <a:prstGeom prst="roundRect">
            <a:avLst>
              <a:gd name="adj" fmla="val 61613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799731" y="933301"/>
            <a:ext cx="4833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44401" y="1136303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 of Bloom Sales AR ($90K) is over 90 days old.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4401" y="1320403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$62K approved for collections. Edward Daniels ($22K) in civil suit.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7450" y="1663154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4401" y="1796355"/>
            <a:ext cx="1844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Bloom Marketing Losses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43499" y="1790105"/>
            <a:ext cx="406301" cy="164902"/>
          </a:xfrm>
          <a:prstGeom prst="roundRect">
            <a:avLst>
              <a:gd name="adj" fmla="val 61613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19699" y="1815405"/>
            <a:ext cx="25897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44401" y="2018407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losing $586K YTD despite $261K revenue.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4401" y="2202507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Hauling COGS ($511K) and Land App fees ($91K) driving losses.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17450" y="2545259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4401" y="2678460"/>
            <a:ext cx="1939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Events Underperformance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85592" y="2672209"/>
            <a:ext cx="564207" cy="164902"/>
          </a:xfrm>
          <a:prstGeom prst="roundRect">
            <a:avLst>
              <a:gd name="adj" fmla="val 61613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861792" y="2697510"/>
            <a:ext cx="420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44401" y="2900511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3-4 events booked vs 13 Q1 target (24%).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4401" y="3084612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$43K revenue vs $174K budget. Pipeline review required.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67250" y="781050"/>
            <a:ext cx="4159300" cy="2390180"/>
          </a:xfrm>
          <a:prstGeom prst="roundRect">
            <a:avLst>
              <a:gd name="adj" fmla="val 2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794200" y="908000"/>
            <a:ext cx="39835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Aging Summary ($147K Total)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94200" y="1630114"/>
            <a:ext cx="3905399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4200" y="1326952"/>
            <a:ext cx="10108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(0-30 days)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99252" y="1326952"/>
            <a:ext cx="4083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(0%)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94200" y="2103090"/>
            <a:ext cx="3905399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94200" y="1799927"/>
            <a:ext cx="5768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31-60 days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13353" y="1799927"/>
            <a:ext cx="6999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$13,213 (9%)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94200" y="2576066"/>
            <a:ext cx="3905399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94200" y="2272903"/>
            <a:ext cx="5768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61-90 days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949654" y="2272903"/>
            <a:ext cx="764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$44,161 (30%)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94200" y="2745879"/>
            <a:ext cx="6934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90 days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949654" y="2745879"/>
            <a:ext cx="764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$90,242 (61%)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7250" y="3272730"/>
            <a:ext cx="4159300" cy="1094780"/>
          </a:xfrm>
          <a:prstGeom prst="roundRect">
            <a:avLst>
              <a:gd name="adj" fmla="val 46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86300" y="3272730"/>
            <a:ext cx="0" cy="109478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6851" y="3374231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Actions Approved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6851" y="356785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Raley Farm: $58,302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06851" y="370745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Divine Landscaping: $1,493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06851" y="3847058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Bridget Wilson Flowers: $1,266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806851" y="398665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Georgia Builders: $709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06851" y="415170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to collections: $62,151+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Actions Required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for Approval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034951"/>
            <a:ext cx="0" cy="510927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051" y="113645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Approve Revised FY26 Budget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051" y="133007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net income target from $4.2M to $6.4M based on RECs performance.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7450" y="1622078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6500" y="1622078"/>
            <a:ext cx="0" cy="510927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051" y="1723579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Authorize Collections Campaign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051" y="1917204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$62K+ in delinquent accounts to collections. Write off $81.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17450" y="2209205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6500" y="2209205"/>
            <a:ext cx="0" cy="510927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051" y="2310705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Bloom Marketing Cost Review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051" y="2504331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cost reduction plan by Q3. Target: Break-even by FY27.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7450" y="2796332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36500" y="2796332"/>
            <a:ext cx="0" cy="510927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051" y="289783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Events Strategy Refresh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051" y="3091458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pipeline and conversion. Consider reducing target to 40 events.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67250" y="1034951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E8F6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86300" y="1034951"/>
            <a:ext cx="0" cy="510927"/>
          </a:xfrm>
          <a:prstGeom prst="line">
            <a:avLst/>
          </a:prstGeom>
          <a:noFill/>
          <a:ln w="38100">
            <a:solidFill>
              <a:srgbClr val="1ABC9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6851" y="113645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48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Edward Daniels Civil Suit ($22K)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6851" y="133007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E6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authorization to continue legal proceedings.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7250" y="1622078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E8F6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86300" y="1622078"/>
            <a:ext cx="0" cy="510927"/>
          </a:xfrm>
          <a:prstGeom prst="line">
            <a:avLst/>
          </a:prstGeom>
          <a:noFill/>
          <a:ln w="38100">
            <a:solidFill>
              <a:srgbClr val="1ABC9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6851" y="1723579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48F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 Allocation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6851" y="1917204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E6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$72K YTD exceeding budget. Maintain current cash strategy.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67250" y="2234505"/>
            <a:ext cx="4159300" cy="2024658"/>
          </a:xfrm>
          <a:prstGeom prst="roundRect">
            <a:avLst>
              <a:gd name="adj" fmla="val 2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768751" y="2336006"/>
            <a:ext cx="40354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68751" y="2953345"/>
            <a:ext cx="395629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68751" y="2694682"/>
            <a:ext cx="10479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Collections Launch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37773" y="2694682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17, 2026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68751" y="3356372"/>
            <a:ext cx="395629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68751" y="3097709"/>
            <a:ext cx="10995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Bill.com Implementation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137773" y="3097709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31, 2026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68751" y="3759398"/>
            <a:ext cx="3956298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68751" y="3500735"/>
            <a:ext cx="12223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Mid-Year Financial Review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126611" y="3500735"/>
            <a:ext cx="6104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31, 2026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68751" y="3903762"/>
            <a:ext cx="11224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Cost Review Due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7773" y="3903762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30,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FY26 Forecast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4043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Projection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317950" cy="2288381"/>
          </a:xfrm>
          <a:prstGeom prst="roundRect">
            <a:avLst>
              <a:gd name="adj" fmla="val 22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450" y="1034951"/>
            <a:ext cx="4317950" cy="574477"/>
          </a:xfrm>
          <a:prstGeom prst="roundRect">
            <a:avLst>
              <a:gd name="adj" fmla="val 8843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17450" y="1604665"/>
            <a:ext cx="431795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4401" y="1250752"/>
            <a:ext cx="3174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57052" y="1250752"/>
            <a:ext cx="4405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90552" y="1250752"/>
            <a:ext cx="447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30452" y="1250752"/>
            <a:ext cx="1815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4401" y="2179141"/>
            <a:ext cx="406405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401" y="1875979"/>
            <a:ext cx="745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75842" y="1875979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94434" y="1875979"/>
            <a:ext cx="3889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$10.4M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76427" y="1875979"/>
            <a:ext cx="2366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4401" y="2652117"/>
            <a:ext cx="4064050" cy="0"/>
          </a:xfrm>
          <a:prstGeom prst="line">
            <a:avLst/>
          </a:prstGeom>
          <a:noFill/>
          <a:ln w="9525">
            <a:solidFill>
              <a:srgbClr val="ECF0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401" y="2348954"/>
            <a:ext cx="7907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Expenses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15133" y="2348954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28367" y="2348954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41602" y="2348954"/>
            <a:ext cx="2721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7450" y="2758380"/>
            <a:ext cx="4317950" cy="564952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4401" y="2974181"/>
            <a:ext cx="6284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99493" y="2974181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056186" y="2974181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$6.4M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212878" y="2974181"/>
            <a:ext cx="3014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7450" y="3450282"/>
            <a:ext cx="4317950" cy="1034802"/>
          </a:xfrm>
          <a:prstGeom prst="roundRect">
            <a:avLst>
              <a:gd name="adj" fmla="val 4909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36500" y="3450282"/>
            <a:ext cx="0" cy="1034802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501" y="357723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Outlook: Strong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2501" y="3805833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471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performance provides significant upside cushion.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2501" y="3989933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471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position remains robust for interest income.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2501" y="4174034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471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risk: AR collections and Bloom cost management.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25901" y="781050"/>
            <a:ext cx="40806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Net Income Forecast</a:t>
            </a:r>
            <a:endParaRPr lang="en-US" sz="11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825901" y="1034951"/>
          <a:ext cx="393695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FY26 Q2 Board Financial Update - YTD vs Budget</dc:title>
  <dc:subject>Financial Performance Through January 19, 2026</dc:subject>
  <dc:creator>Blue Drop, LLC</dc:creator>
  <cp:lastModifiedBy>Blue Drop, LLC</cp:lastModifiedBy>
  <cp:revision>1</cp:revision>
  <dcterms:created xsi:type="dcterms:W3CDTF">2026-01-19T21:01:30Z</dcterms:created>
  <dcterms:modified xsi:type="dcterms:W3CDTF">2026-01-19T21:01:30Z</dcterms:modified>
</cp:coreProperties>
</file>